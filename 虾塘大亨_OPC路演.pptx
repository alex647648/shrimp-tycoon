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25603200" cy="960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2194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0C8B4"/>
                </a:solidFill>
                <a:latin typeface="思源黑体 CN Bold"/>
              </a:defRPr>
            </a:pPr>
            <a:r>
              <a:t>🦞 虾塘大亨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2194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思源黑体 CN Bold"/>
              </a:defRPr>
            </a:pPr>
            <a:r>
              <a:t>AI 智慧水产决策系统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486400"/>
            <a:ext cx="2194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0B8C4"/>
                </a:solidFill>
                <a:latin typeface="思源黑体 CN Bold"/>
              </a:defRPr>
            </a:pPr>
            <a:r>
              <a:t>不是让农民学 AI，是让 AI 学会养虾。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6858000"/>
            <a:ext cx="2194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0E4EB"/>
                </a:solidFill>
                <a:latin typeface="思源黑体 CN Bold"/>
              </a:defRPr>
            </a:pPr>
            <a:r>
              <a:t>OPC极限挑战赛 · 赛道二「AI合伙人」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7772400"/>
            <a:ext cx="2194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0B8C4"/>
                </a:solidFill>
                <a:latin typeface="思源黑体 CN Bold"/>
              </a:defRPr>
            </a:pPr>
            <a:r>
              <a:t>参赛者：647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2286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C8B4"/>
                </a:solidFill>
                <a:latin typeface="思源黑体 CN Bold"/>
              </a:defRPr>
            </a:pPr>
            <a:r>
              <a:t>01  行业痛点：3,050 万亩虾塘，95% 在「盲养」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560320"/>
            <a:ext cx="6858000" cy="5943600"/>
          </a:xfrm>
          <a:prstGeom prst="rect">
            <a:avLst/>
          </a:prstGeom>
          <a:solidFill>
            <a:srgbClr val="141A2E"/>
          </a:solidFill>
          <a:ln w="1270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92608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思源黑体 CN Bold"/>
              </a:defRPr>
            </a:pPr>
            <a:r>
              <a:t>💀 死亡率高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1148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0E4EB"/>
                </a:solidFill>
                <a:latin typeface="思源黑体 CN Bold"/>
              </a:defRPr>
            </a:pPr>
            <a:r>
              <a:t>养殖全程无专业指导</a:t>
            </a:r>
            <a:br/>
            <a:r>
              <a:t>病害爆发后才发现</a:t>
            </a:r>
            <a:br/>
            <a:r>
              <a:t>年均损失率 30-50%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71323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A623"/>
                </a:solidFill>
                <a:latin typeface="思源黑体 CN Bold"/>
              </a:defRPr>
            </a:pPr>
            <a:r>
              <a:t>传统：凭经验，靠天吃饭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0" y="2560320"/>
            <a:ext cx="6858000" cy="5943600"/>
          </a:xfrm>
          <a:prstGeom prst="rect">
            <a:avLst/>
          </a:prstGeom>
          <a:solidFill>
            <a:srgbClr val="141A2E"/>
          </a:solidFill>
          <a:ln w="1270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0" y="292608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思源黑体 CN Bold"/>
              </a:defRPr>
            </a:pPr>
            <a:r>
              <a:t>⏰ 人力依赖重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41148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0E4EB"/>
                </a:solidFill>
                <a:latin typeface="思源黑体 CN Bold"/>
              </a:defRPr>
            </a:pPr>
            <a:r>
              <a:t>每天 3-5 次人工巡塘</a:t>
            </a:r>
            <a:br/>
            <a:r>
              <a:t>夜间缺氧无人知</a:t>
            </a:r>
            <a:br/>
            <a:r>
              <a:t>单塘需 1-2 名技术员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71323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A623"/>
                </a:solidFill>
                <a:latin typeface="思源黑体 CN Bold"/>
              </a:defRPr>
            </a:pPr>
            <a:r>
              <a:t>痛点：招不到、留不住、教不会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916400" y="2560320"/>
            <a:ext cx="6858000" cy="5943600"/>
          </a:xfrm>
          <a:prstGeom prst="rect">
            <a:avLst/>
          </a:prstGeom>
          <a:solidFill>
            <a:srgbClr val="141A2E"/>
          </a:solidFill>
          <a:ln w="1270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0" y="292608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思源黑体 CN Bold"/>
              </a:defRPr>
            </a:pPr>
            <a:r>
              <a:t>📉 利润被挤压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0" y="411480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0E4EB"/>
                </a:solidFill>
                <a:latin typeface="思源黑体 CN Bold"/>
              </a:defRPr>
            </a:pPr>
            <a:r>
              <a:t>信息不对称卖不上价</a:t>
            </a:r>
            <a:br/>
            <a:r>
              <a:t>错过最佳捕捞窗口</a:t>
            </a:r>
            <a:br/>
            <a:r>
              <a:t>饲料投入产出比模糊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0" y="71323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A623"/>
                </a:solidFill>
                <a:latin typeface="思源黑体 CN Bold"/>
              </a:defRPr>
            </a:pPr>
            <a:r>
              <a:t>现状：增产不增收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2286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C8B4"/>
                </a:solidFill>
                <a:latin typeface="思源黑体 CN Bold"/>
              </a:defRPr>
            </a:pPr>
            <a:r>
              <a:t>02  解决方案：AI 合伙人，24/7 守护每一口塘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286000"/>
            <a:ext cx="6858000" cy="6400800"/>
          </a:xfrm>
          <a:prstGeom prst="rect">
            <a:avLst/>
          </a:prstGeom>
          <a:solidFill>
            <a:srgbClr val="141A2E"/>
          </a:solidFill>
          <a:ln w="1270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5603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思源黑体 CN Bold"/>
              </a:defRPr>
            </a:pPr>
            <a:r>
              <a:t>🛡️ 哨兵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2918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C8B4"/>
                </a:solidFill>
                <a:latin typeface="思源黑体 CN Bold"/>
              </a:defRPr>
            </a:pPr>
            <a:r>
              <a:t>实时监控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931920"/>
            <a:ext cx="5943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4EB"/>
                </a:solidFill>
                <a:latin typeface="思源黑体 CN Bold"/>
              </a:defRPr>
            </a:pPr>
            <a:r>
              <a:t>每 5 分钟自动分析水质</a:t>
            </a:r>
            <a:br/>
            <a:r>
              <a:t>三层智能路由：规则→Haiku→Opus</a:t>
            </a:r>
            <a:br/>
            <a:r>
              <a:t>危险信号即时推送飞书</a:t>
            </a:r>
            <a:br/>
            <a:r>
              <a:t>10 秒内完成决策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71323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A623"/>
                </a:solidFill>
                <a:latin typeface="思源黑体 CN Bold"/>
              </a:defRPr>
            </a:pPr>
            <a:r>
              <a:t>替代：24h值班技术员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286000"/>
            <a:ext cx="6858000" cy="6400800"/>
          </a:xfrm>
          <a:prstGeom prst="rect">
            <a:avLst/>
          </a:prstGeom>
          <a:solidFill>
            <a:srgbClr val="141A2E"/>
          </a:solidFill>
          <a:ln w="1270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25603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思源黑体 CN Bold"/>
              </a:defRPr>
            </a:pPr>
            <a:r>
              <a:t>📊 策略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32918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C8B4"/>
                </a:solidFill>
                <a:latin typeface="思源黑体 CN Bold"/>
              </a:defRPr>
            </a:pPr>
            <a:r>
              <a:t>每日决策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3931920"/>
            <a:ext cx="5943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4EB"/>
                </a:solidFill>
                <a:latin typeface="思源黑体 CN Bold"/>
              </a:defRPr>
            </a:pPr>
            <a:r>
              <a:t>自动生成日报（投喂/病害/捕捞）</a:t>
            </a:r>
            <a:br/>
            <a:r>
              <a:t>7 天趋势分析</a:t>
            </a:r>
            <a:br/>
            <a:r>
              <a:t>70 条知识库规则辅助推理</a:t>
            </a:r>
            <a:br/>
            <a:r>
              <a:t>精准投喂方案（减少30%饲料浪费）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71323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A623"/>
                </a:solidFill>
                <a:latin typeface="思源黑体 CN Bold"/>
              </a:defRPr>
            </a:pPr>
            <a:r>
              <a:t>替代：养殖顾问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916400" y="2286000"/>
            <a:ext cx="6858000" cy="6400800"/>
          </a:xfrm>
          <a:prstGeom prst="rect">
            <a:avLst/>
          </a:prstGeom>
          <a:solidFill>
            <a:srgbClr val="141A2E"/>
          </a:solidFill>
          <a:ln w="1270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0" y="25603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思源黑体 CN Bold"/>
              </a:defRPr>
            </a:pPr>
            <a:r>
              <a:t>📈 增长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0" y="32918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C8B4"/>
                </a:solidFill>
                <a:latin typeface="思源黑体 CN Bold"/>
              </a:defRPr>
            </a:pPr>
            <a:r>
              <a:t>商业增长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0" y="3931920"/>
            <a:ext cx="5943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4EB"/>
                </a:solidFill>
                <a:latin typeface="思源黑体 CN Bold"/>
              </a:defRPr>
            </a:pPr>
            <a:r>
              <a:t>多塘 ROI 对比分析</a:t>
            </a:r>
            <a:br/>
            <a:r>
              <a:t>实时市场价格匹配</a:t>
            </a:r>
            <a:br/>
            <a:r>
              <a:t>最佳捕捞窗口预测</a:t>
            </a:r>
            <a:br/>
            <a:r>
              <a:t>ICP 评分获客（客户画像）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0" y="71323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A623"/>
                </a:solidFill>
                <a:latin typeface="思源黑体 CN Bold"/>
              </a:defRPr>
            </a:pPr>
            <a:r>
              <a:t>替代：销售经理+市场分析师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2286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C8B4"/>
                </a:solidFill>
                <a:latin typeface="思源黑体 CN Bold"/>
              </a:defRPr>
            </a:pPr>
            <a:r>
              <a:t>03  三层架构：决策层 → 工具层 → 数据层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286000"/>
            <a:ext cx="22860000" cy="2011680"/>
          </a:xfrm>
          <a:prstGeom prst="rect">
            <a:avLst/>
          </a:prstGeom>
          <a:solidFill>
            <a:srgbClr val="141A2E"/>
          </a:solidFill>
          <a:ln w="1270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4688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C8B4"/>
                </a:solidFill>
                <a:latin typeface="思源黑体 CN Bold"/>
              </a:defRPr>
            </a:pPr>
            <a:r>
              <a:t>Layer A · 决策层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108960"/>
            <a:ext cx="2103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0E4EB"/>
                </a:solidFill>
                <a:latin typeface="思源黑体 CN Bold"/>
              </a:defRPr>
            </a:pPr>
            <a:r>
              <a:t>哨兵 Agent（实时）  →  策略 Agent（每日 cron）  →  增长 Agent（每周 cron）</a:t>
            </a:r>
            <a:br/>
            <a:r>
              <a:t>三层路由：CSI≤20→规则引擎 | CSI 21-60→Haiku | CSI&gt;60→Opus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0" y="4297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8C4"/>
                </a:solidFill>
                <a:latin typeface="思源黑体 CN Bold"/>
              </a:defRPr>
            </a:pPr>
            <a:r>
              <a:t>▼  MCP 协议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846320"/>
            <a:ext cx="22860000" cy="2011680"/>
          </a:xfrm>
          <a:prstGeom prst="rect">
            <a:avLst/>
          </a:prstGeom>
          <a:solidFill>
            <a:srgbClr val="141A2E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5029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A623"/>
                </a:solidFill>
                <a:latin typeface="思源黑体 CN Bold"/>
              </a:defRPr>
            </a:pPr>
            <a:r>
              <a:t>Layer B · 工具层（12 个 MCP 工具）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669280"/>
            <a:ext cx="2103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4EB"/>
                </a:solidFill>
                <a:latin typeface="思源黑体 CN Bold"/>
              </a:defRPr>
            </a:pPr>
            <a:r>
              <a:t>sensor_read · water_quality_score · feeding_recommend · disease_assess · harvest_advise</a:t>
            </a:r>
            <a:br/>
            <a:r>
              <a:t>market_match · price_trend · kb_query · feishu_push · lead_score · crm_write · audit_log</a:t>
            </a:r>
            <a:br/>
            <a:r>
              <a:t>特性：无状态 | 幂等 | ≤5s 超时 | 标准 FastMCP 协议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0" y="6858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8C4"/>
                </a:solidFill>
                <a:latin typeface="思源黑体 CN Bold"/>
              </a:defRPr>
            </a:pPr>
            <a:r>
              <a:t>▼  读写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7406640"/>
            <a:ext cx="22860000" cy="1645920"/>
          </a:xfrm>
          <a:prstGeom prst="rect">
            <a:avLst/>
          </a:prstGeom>
          <a:solidFill>
            <a:srgbClr val="141A2E"/>
          </a:solidFill>
          <a:ln w="12700">
            <a:solidFill>
              <a:srgbClr val="6B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7589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B7BFF"/>
                </a:solidFill>
                <a:latin typeface="思源黑体 CN Bold"/>
              </a:defRPr>
            </a:pPr>
            <a:r>
              <a:t>Layer C · 数据层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8138160"/>
            <a:ext cx="2103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4EB"/>
                </a:solidFill>
                <a:latin typeface="思源黑体 CN Bold"/>
              </a:defRPr>
            </a:pPr>
            <a:r>
              <a:t>SQLite（WAL 模式）→ PostgreSQL + TimescaleDB + Redis  |  70 条知识库规则  |  行业价格数据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2286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C8B4"/>
                </a:solidFill>
                <a:latin typeface="思源黑体 CN Bold"/>
              </a:defRPr>
            </a:pPr>
            <a:r>
              <a:t>04  技术亮点：为什么是最强 AI 合伙人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286000"/>
            <a:ext cx="6858000" cy="3200400"/>
          </a:xfrm>
          <a:prstGeom prst="rect">
            <a:avLst/>
          </a:prstGeom>
          <a:solidFill>
            <a:srgbClr val="141A2E"/>
          </a:solidFill>
          <a:ln w="1270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5603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思源黑体 CN Bold"/>
              </a:defRPr>
            </a:pPr>
            <a:r>
              <a:t>🧠  三层智能路由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38328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4EB"/>
                </a:solidFill>
                <a:latin typeface="思源黑体 CN Bold"/>
              </a:defRPr>
            </a:pPr>
            <a:r>
              <a:t>CSI≤20 规则引擎（0 成本）</a:t>
            </a:r>
            <a:br/>
            <a:r>
              <a:t>CSI 21-60 Haiku（快速）</a:t>
            </a:r>
            <a:br/>
            <a:r>
              <a:t>CSI&gt;60 Opus（深度推理）</a:t>
            </a:r>
            <a:br/>
            <a:r>
              <a:t>自动降级 fallback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2286000"/>
            <a:ext cx="6858000" cy="3200400"/>
          </a:xfrm>
          <a:prstGeom prst="rect">
            <a:avLst/>
          </a:prstGeom>
          <a:solidFill>
            <a:srgbClr val="141A2E"/>
          </a:solidFill>
          <a:ln w="1270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0" y="25603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思源黑体 CN Bold"/>
              </a:defRPr>
            </a:pPr>
            <a:r>
              <a:t>🔌  标准 MCP 协议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338328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4EB"/>
                </a:solidFill>
                <a:latin typeface="思源黑体 CN Bold"/>
              </a:defRPr>
            </a:pPr>
            <a:r>
              <a:t>12 个工具即插即用</a:t>
            </a:r>
            <a:br/>
            <a:r>
              <a:t>FastMCP stdio/HTTP 双模式</a:t>
            </a:r>
            <a:br/>
            <a:r>
              <a:t>clawhub install 一键安装</a:t>
            </a:r>
            <a:br/>
            <a:r>
              <a:t>开源可扩展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916400" y="2286000"/>
            <a:ext cx="6858000" cy="3200400"/>
          </a:xfrm>
          <a:prstGeom prst="rect">
            <a:avLst/>
          </a:prstGeom>
          <a:solidFill>
            <a:srgbClr val="141A2E"/>
          </a:solidFill>
          <a:ln w="1270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190720" y="25603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思源黑体 CN Bold"/>
              </a:defRPr>
            </a:pPr>
            <a:r>
              <a:t>📡  真实传感器接入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190720" y="338328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4EB"/>
                </a:solidFill>
                <a:latin typeface="思源黑体 CN Bold"/>
              </a:defRPr>
            </a:pPr>
            <a:r>
              <a:t>涂鸦 IoT 智能水质仪</a:t>
            </a:r>
            <a:br/>
            <a:r>
              <a:t>Mock/Tuya/DIMOS 三种适配器</a:t>
            </a:r>
            <a:br/>
            <a:r>
              <a:t>ENV 一键切换模式</a:t>
            </a:r>
            <a:br/>
            <a:r>
              <a:t>5 分钟采集周期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5943600"/>
            <a:ext cx="6858000" cy="3200400"/>
          </a:xfrm>
          <a:prstGeom prst="rect">
            <a:avLst/>
          </a:prstGeom>
          <a:solidFill>
            <a:srgbClr val="141A2E"/>
          </a:solidFill>
          <a:ln w="1270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62179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思源黑体 CN Bold"/>
              </a:defRPr>
            </a:pPr>
            <a:r>
              <a:t>🤖  具身智能预留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704088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4EB"/>
                </a:solidFill>
                <a:latin typeface="思源黑体 CN Bold"/>
              </a:defRPr>
            </a:pPr>
            <a:r>
              <a:t>DIMOS × 宇树机器狗</a:t>
            </a:r>
            <a:br/>
            <a:r>
              <a:t>自动巡塘路径规划</a:t>
            </a:r>
            <a:br/>
            <a:r>
              <a:t>无人机航拍水质</a:t>
            </a:r>
            <a:br/>
            <a:r>
              <a:t>投喂执行器控制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5943600"/>
            <a:ext cx="6858000" cy="3200400"/>
          </a:xfrm>
          <a:prstGeom prst="rect">
            <a:avLst/>
          </a:prstGeom>
          <a:solidFill>
            <a:srgbClr val="141A2E"/>
          </a:solidFill>
          <a:ln w="1270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62179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思源黑体 CN Bold"/>
              </a:defRPr>
            </a:pPr>
            <a:r>
              <a:t>🛡️  工程级安全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704088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4EB"/>
                </a:solidFill>
                <a:latin typeface="思源黑体 CN Bold"/>
              </a:defRPr>
            </a:pPr>
            <a:r>
              <a:t>传感器物理校验</a:t>
            </a:r>
            <a:br/>
            <a:r>
              <a:t>危险操作人工确认</a:t>
            </a:r>
            <a:br/>
            <a:r>
              <a:t>飞书推送 60min 去重</a:t>
            </a:r>
            <a:br/>
            <a:r>
              <a:t>LLM 10s 强制超时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6400" y="5943600"/>
            <a:ext cx="6858000" cy="3200400"/>
          </a:xfrm>
          <a:prstGeom prst="rect">
            <a:avLst/>
          </a:prstGeom>
          <a:solidFill>
            <a:srgbClr val="141A2E"/>
          </a:solidFill>
          <a:ln w="1270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190720" y="62179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思源黑体 CN Bold"/>
              </a:defRPr>
            </a:pPr>
            <a:r>
              <a:t>📊  知识驱动决策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190720" y="704088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4EB"/>
                </a:solidFill>
                <a:latin typeface="思源黑体 CN Bold"/>
              </a:defRPr>
            </a:pPr>
            <a:r>
              <a:t>70 条养殖规则</a:t>
            </a:r>
            <a:br/>
            <a:r>
              <a:t>54 篇学术参考</a:t>
            </a:r>
            <a:br/>
            <a:r>
              <a:t>TF-IDF 检索引擎</a:t>
            </a:r>
            <a:br/>
            <a:r>
              <a:t>规则+AI 混合推理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2286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C8B4"/>
                </a:solidFill>
                <a:latin typeface="思源黑体 CN Bold"/>
              </a:defRPr>
            </a:pPr>
            <a:r>
              <a:t>05  效果展示：从传感器到飞书，全链路自动化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560320"/>
            <a:ext cx="5303520" cy="5943600"/>
          </a:xfrm>
          <a:prstGeom prst="rect">
            <a:avLst/>
          </a:prstGeom>
          <a:solidFill>
            <a:srgbClr val="141A2E"/>
          </a:solidFill>
          <a:ln w="1270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B4"/>
                </a:solidFill>
                <a:latin typeface="思源黑体 CN Bold"/>
              </a:defRPr>
            </a:pPr>
            <a:r>
              <a:t>1️⃣ 传感器采集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0E4EB"/>
                </a:solidFill>
                <a:latin typeface="思源黑体 CN Bold"/>
              </a:defRPr>
            </a:pPr>
            <a:r>
              <a:t>水温 26.5°C</a:t>
            </a:r>
            <a:br/>
            <a:r>
              <a:t>DO 3.2 mg/L ⚠️</a:t>
            </a:r>
            <a:br/>
            <a:r>
              <a:t>pH 7.8</a:t>
            </a:r>
            <a:br/>
            <a:r>
              <a:t>氨氮 0.15 mg/L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029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C8B4"/>
                </a:solidFill>
                <a:latin typeface="思源黑体 CN Bold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0" y="2560320"/>
            <a:ext cx="5303520" cy="5943600"/>
          </a:xfrm>
          <a:prstGeom prst="rect">
            <a:avLst/>
          </a:prstGeom>
          <a:solidFill>
            <a:srgbClr val="141A2E"/>
          </a:solidFill>
          <a:ln w="1270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2743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B4"/>
                </a:solidFill>
                <a:latin typeface="思源黑体 CN Bold"/>
              </a:defRPr>
            </a:pPr>
            <a:r>
              <a:t>2️⃣ MCP 工具计算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4747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0E4EB"/>
                </a:solidFill>
                <a:latin typeface="思源黑体 CN Bold"/>
              </a:defRPr>
            </a:pPr>
            <a:r>
              <a:t>水质综合评分: 42</a:t>
            </a:r>
            <a:br/>
            <a:r>
              <a:t>风险等级: 中等</a:t>
            </a:r>
            <a:br/>
            <a:r>
              <a:t>关键词触发: DO&lt;3.0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0" y="5029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C8B4"/>
                </a:solidFill>
                <a:latin typeface="思源黑体 CN Bold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984480" y="2560320"/>
            <a:ext cx="5303520" cy="5943600"/>
          </a:xfrm>
          <a:prstGeom prst="rect">
            <a:avLst/>
          </a:prstGeom>
          <a:solidFill>
            <a:srgbClr val="141A2E"/>
          </a:solidFill>
          <a:ln w="1270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0" y="2743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B4"/>
                </a:solidFill>
                <a:latin typeface="思源黑体 CN Bold"/>
              </a:defRPr>
            </a:pPr>
            <a:r>
              <a:t>3️⃣ Agent 决策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0" y="34747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0E4EB"/>
                </a:solidFill>
                <a:latin typeface="思源黑体 CN Bold"/>
              </a:defRPr>
            </a:pPr>
            <a:r>
              <a:t>模型: Haiku</a:t>
            </a:r>
            <a:br/>
            <a:r>
              <a:t>risk_level: 3</a:t>
            </a:r>
            <a:br/>
            <a:r>
              <a:t>建议: 立即开增氧机</a:t>
            </a:r>
            <a:br/>
            <a:r>
              <a:t>减少投喂 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0" y="50292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C8B4"/>
                </a:solidFill>
                <a:latin typeface="思源黑体 CN Bold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928080" y="2560320"/>
            <a:ext cx="5303520" cy="5943600"/>
          </a:xfrm>
          <a:prstGeom prst="rect">
            <a:avLst/>
          </a:prstGeom>
          <a:solidFill>
            <a:srgbClr val="141A2E"/>
          </a:solidFill>
          <a:ln w="1270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0" y="2743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B4"/>
                </a:solidFill>
                <a:latin typeface="思源黑体 CN Bold"/>
              </a:defRPr>
            </a:pPr>
            <a:r>
              <a:t>4️⃣ 飞书推送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0" y="34747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0E4EB"/>
                </a:solidFill>
                <a:latin typeface="思源黑体 CN Bold"/>
              </a:defRPr>
            </a:pPr>
            <a:r>
              <a:t>🚨 虾塘 A3 告警</a:t>
            </a:r>
            <a:br/>
            <a:r>
              <a:t>溶解氧低于安全阈值</a:t>
            </a:r>
            <a:br/>
            <a:r>
              <a:t>已自动触发增氧</a:t>
            </a:r>
            <a:br/>
            <a:r>
              <a:t>技术员已收到通知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731520"/>
            <a:ext cx="2286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C8B4"/>
                </a:solidFill>
                <a:latin typeface="思源黑体 CN Bold"/>
              </a:defRPr>
            </a:pPr>
            <a:r>
              <a:t>06  商业价值：替代 3 个岗位，效率提升 10 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C8B4"/>
                </a:solidFill>
                <a:latin typeface="思源黑体 CN Bold"/>
              </a:defRPr>
            </a:pPr>
            <a:r>
              <a:t>3,050 万亩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8C4"/>
                </a:solidFill>
                <a:latin typeface="思源黑体 CN Bold"/>
              </a:defRPr>
            </a:pPr>
            <a:r>
              <a:t>中国虾塘总面积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5A623"/>
                </a:solidFill>
                <a:latin typeface="思源黑体 CN Bold"/>
              </a:defRPr>
            </a:pPr>
            <a:r>
              <a:t>95%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6634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8C4"/>
                </a:solidFill>
                <a:latin typeface="思源黑体 CN Bold"/>
              </a:defRPr>
            </a:pPr>
            <a:r>
              <a:t>无专业 AI 覆盖率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5778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思源黑体 CN Bold"/>
              </a:defRPr>
            </a:pPr>
            <a:r>
              <a:t>¥1,800/月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63093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8C4"/>
                </a:solidFill>
                <a:latin typeface="思源黑体 CN Bold"/>
              </a:defRPr>
            </a:pPr>
            <a:r>
              <a:t>SaaS 单塘月费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72237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思源黑体 CN Bold"/>
              </a:defRPr>
            </a:pPr>
            <a:r>
              <a:t>1.5%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79552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8C4"/>
                </a:solidFill>
                <a:latin typeface="思源黑体 CN Bold"/>
              </a:defRPr>
            </a:pPr>
            <a:r>
              <a:t>撮合交易佣金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286000"/>
            <a:ext cx="15087600" cy="6400800"/>
          </a:xfrm>
          <a:prstGeom prst="rect">
            <a:avLst/>
          </a:prstGeom>
          <a:solidFill>
            <a:srgbClr val="141A2E"/>
          </a:solidFill>
          <a:ln w="12700">
            <a:solidFill>
              <a:srgbClr val="00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2560320"/>
            <a:ext cx="1371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B4"/>
                </a:solidFill>
                <a:latin typeface="思源黑体 CN Bold"/>
              </a:defRPr>
            </a:pPr>
            <a:r>
              <a:t>AI 替代的岗位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4747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思源黑体 CN Bold"/>
              </a:defRPr>
            </a:pPr>
            <a:r>
              <a:t>👤 24h 值班技术员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4023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4EB"/>
                </a:solidFill>
                <a:latin typeface="思源黑体 CN Bold"/>
              </a:defRPr>
            </a:pPr>
            <a:r>
              <a:t>→ 哨兵 Agent 全天候自动监控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0" y="36576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A623"/>
                </a:solidFill>
                <a:latin typeface="思源黑体 CN Bold"/>
              </a:defRPr>
            </a:pPr>
            <a:r>
              <a:t>年省 ¥8-12 万/塘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51206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思源黑体 CN Bold"/>
              </a:defRPr>
            </a:pPr>
            <a:r>
              <a:t>👤 养殖顾问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5669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4EB"/>
                </a:solidFill>
                <a:latin typeface="思源黑体 CN Bold"/>
              </a:defRPr>
            </a:pPr>
            <a:r>
              <a:t>→ 策略 Agent 每日精准决策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0" y="53035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A623"/>
                </a:solidFill>
                <a:latin typeface="思源黑体 CN Bold"/>
              </a:defRPr>
            </a:pPr>
            <a:r>
              <a:t>年省 ¥5-8 万/塘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7665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思源黑体 CN Bold"/>
              </a:defRPr>
            </a:pPr>
            <a:r>
              <a:t>👤 销售经理 + 市场分析师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7315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4EB"/>
                </a:solidFill>
                <a:latin typeface="思源黑体 CN Bold"/>
              </a:defRPr>
            </a:pPr>
            <a:r>
              <a:t>→ 增长 Agent 自动获客+市场分析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0" y="6949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A623"/>
                </a:solidFill>
                <a:latin typeface="思源黑体 CN Bold"/>
              </a:defRPr>
            </a:pPr>
            <a:r>
              <a:t>年省 ¥10-15 万/塘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2194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0C8B4"/>
                </a:solidFill>
                <a:latin typeface="思源黑体 CN Bold"/>
              </a:defRPr>
            </a:pPr>
            <a:r>
              <a:t>🦞 虾塘大亨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2194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思源黑体 CN Bold"/>
              </a:defRPr>
            </a:pPr>
            <a:r>
              <a:t>让每一口虾塘，都有一个 AI 合伙人。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486400"/>
            <a:ext cx="2194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0B8C4"/>
                </a:solidFill>
                <a:latin typeface="思源黑体 CN Bold"/>
              </a:defRPr>
            </a:pPr>
            <a:r>
              <a:t>开源  ·  即插即用  ·  标准 MCP 协议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6858000"/>
            <a:ext cx="2194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0E4EB"/>
                </a:solidFill>
                <a:latin typeface="思源黑体 CN Bold"/>
              </a:defRPr>
            </a:pPr>
            <a:r>
              <a:t>GitHub: github.com/Alex647648/shrimp-tycoon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7772400"/>
            <a:ext cx="2194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C8B4"/>
                </a:solidFill>
                <a:latin typeface="思源黑体 CN Bold"/>
              </a:defRPr>
            </a:pPr>
            <a:r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